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Tasa por 100k</c:v>
                </c:pt>
              </c:strCache>
            </c:strRef>
          </c:tx>
          <c:spPr>
            <a:solidFill>
              <a:srgbClr val="B9B6A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1111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B6A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1111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Mujeres</c:v>
                  </c:pt>
                  <c:pt idx="1">
                    <c:v>Hombres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6.1</c:v>
                </c:pt>
                <c:pt idx="1">
                  <c:v>20.52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1111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A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A3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EDEAE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Tasa por 100k</c:v>
                </c:pt>
              </c:strCache>
            </c:strRef>
          </c:tx>
          <c:spPr>
            <a:solidFill>
              <a:srgbClr val="1111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1111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1111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9B6A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Ingreso Alto</c:v>
                  </c:pt>
                  <c:pt idx="1">
                    <c:v>Ingreso Medio-Alto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15.14</c:v>
                </c:pt>
                <c:pt idx="1">
                  <c:v>9.93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1111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A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A3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EDEAE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201168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31089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1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13716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MÁS ALLÁ</a:t>
            </a:r>
            <a:endParaRPr lang="en-US" sz="60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LAS CIFRAS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502920" y="42062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DEA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análisis de la tasa de suicidio y sus factores asociados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229600" y="0"/>
            <a:ext cx="3959352" cy="6858000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7" name="Text 4"/>
          <p:cNvSpPr/>
          <p:nvPr/>
        </p:nvSpPr>
        <p:spPr>
          <a:xfrm>
            <a:off x="8549640" y="59893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IMT2200 — Introducción a la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Ciencia de Datos · PUC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201168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31089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8229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MOTIVACIÓN Y</a:t>
            </a:r>
            <a:endParaRPr lang="en-US" sz="38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CONTEXTO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21488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A3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“¿El aumento visible refleja un deterioro real, o mejores diagnósticos?”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2880360"/>
            <a:ext cx="3544824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0040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379476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INTERROGANTE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77240" y="4297680"/>
            <a:ext cx="29047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3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visibilidad de ansiedad y depresión: ¿deterioro real o mejor diagnóstico?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322064" y="2880360"/>
            <a:ext cx="3544824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2104" y="320040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42104" y="379476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CIFRA OMS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4642104" y="4297680"/>
            <a:ext cx="29047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3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de 720.000 muertes anuales por suicidio a nivel global. Fenómeno multifactorial.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8186928" y="2880360"/>
            <a:ext cx="3544824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6968" y="320040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506968" y="379476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 DE LOS DATOS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8506968" y="4297680"/>
            <a:ext cx="29047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3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tasa de suicidio como indicador cuantificable para identificar patrones globales.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3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201168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31089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77724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PREGUNTAS</a:t>
            </a:r>
            <a:endParaRPr lang="en-US" sz="38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2103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DEA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se relacionan economía, género y desempleo con la tasa de suicidio país-año, </a:t>
            </a:r>
            <a:pPr indent="0" marL="0">
              <a:buNone/>
            </a:pPr>
            <a:r>
              <a:rPr lang="en-US" sz="1600" b="1" i="1" dirty="0">
                <a:solidFill>
                  <a:srgbClr val="EDEA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qué tan bien predicen tasas altas?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3108960"/>
            <a:ext cx="914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A5A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417320" y="31089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Economía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17320" y="3520440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varía la tasa de suicidios según el nivel de ingreso del país-año?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126480" y="3108960"/>
            <a:ext cx="914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A5A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086600" y="31089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Género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086600" y="3520440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¿Existen diferencias sistemáticas entre hombres y mujeres?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4846320"/>
            <a:ext cx="914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A5A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1417320" y="48463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Desempleo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417320" y="5257800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¿Existe asociación entre tasa de desempleo y tasa de suicidios?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126480" y="4846320"/>
            <a:ext cx="914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A5A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7086600" y="48463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predictivo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086600" y="5257800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tan bien predicen estas variables un país-año de tasa alta?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201168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31089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· FUENTES: KAGGLE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8229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ARQUITECTURA</a:t>
            </a:r>
            <a:endParaRPr lang="en-US" sz="38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DATOS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457200" y="2286000"/>
            <a:ext cx="3544824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6032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3108960"/>
            <a:ext cx="299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ECONOMÍA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31520" y="3520440"/>
            <a:ext cx="2996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Dimensión económica macro y micro · pobreza extrema, PIB per cápita, nivel de ingreso.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4322064" y="2286000"/>
            <a:ext cx="3544824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6384" y="256032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96384" y="3108960"/>
            <a:ext cx="299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DESEMPLEO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4596384" y="3520440"/>
            <a:ext cx="2996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Dimensión laboral · tasa de desempleo por país-año.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8186928" y="2286000"/>
            <a:ext cx="3544824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1248" y="2560320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461248" y="3108960"/>
            <a:ext cx="299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GÉNERO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8461248" y="3520440"/>
            <a:ext cx="2996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Dimensión demográfica · tasa de suicidio por sexo y población.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457200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DE UNIÓN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457200" y="5394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Unión por país (código ISO3) + año · rango común 2000–2020 entre las tres bases.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3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201168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31089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· LIMPIEZA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7772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DECISIONES</a:t>
            </a:r>
            <a:endParaRPr lang="en-US" sz="36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METODOLÓGICAS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23317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Códigos de país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200400" y="2331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8A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eliminaron registros sin código ISO3: es indispensable para unir las tres bases.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57200" y="3108960"/>
            <a:ext cx="11247120" cy="0"/>
          </a:xfrm>
          <a:prstGeom prst="line">
            <a:avLst/>
          </a:prstGeom>
          <a:noFill/>
          <a:ln w="12700">
            <a:solidFill>
              <a:srgbClr val="33333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2461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Tasas faltantes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200400" y="3246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8A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recalculó la tasa de suicidio usando SuicideCount / Population cuando era posible.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57200" y="4023360"/>
            <a:ext cx="11247120" cy="0"/>
          </a:xfrm>
          <a:prstGeom prst="line">
            <a:avLst/>
          </a:prstGeom>
          <a:noFill/>
          <a:ln w="12700">
            <a:solidFill>
              <a:srgbClr val="33333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1605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de ingreso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200400" y="4160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8A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descartaron registros sin nivel de ingreso; no se imputó manualmente esta variable clave.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57200" y="4937760"/>
            <a:ext cx="11247120" cy="0"/>
          </a:xfrm>
          <a:prstGeom prst="line">
            <a:avLst/>
          </a:prstGeom>
          <a:noFill/>
          <a:ln w="12700">
            <a:solidFill>
              <a:srgbClr val="33333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50749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Región administrativa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200400" y="5074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8A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nulos se reemplazaron por “Sin región”, ya que no es variable principal del análisis.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457200" y="5852160"/>
            <a:ext cx="11247120" cy="0"/>
          </a:xfrm>
          <a:prstGeom prst="line">
            <a:avLst/>
          </a:prstGeom>
          <a:noFill/>
          <a:ln w="12700">
            <a:solidFill>
              <a:srgbClr val="33333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201168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31089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· GÉNERO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77724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BRECHA</a:t>
            </a:r>
            <a:endParaRPr lang="en-US" sz="36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GÉNERO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2148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A3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 promedio de suicidio por cada 100.000 habitantes (1991–2020)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697480"/>
          <a:ext cx="60350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6949440" y="2697480"/>
            <a:ext cx="47548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223760" y="2834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3,4×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7223760" y="35204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tasa masculina supera a la femenina en todos los países-año observados.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949440" y="452628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3A3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Patrón observado: 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brecha es mayor en países de ingreso Alto. Esto podría asociarse a dinámicas socioculturales, pero el diseño observacional no permite establecer causalidad.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3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201168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31089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· ECONOMÍA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77724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NIVEL DE INGRESO</a:t>
            </a:r>
            <a:endParaRPr lang="en-US" sz="34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 SUICIDIO</a:t>
            </a:r>
            <a:endParaRPr lang="en-US" sz="3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377440"/>
          <a:ext cx="60350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685800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DEL HALLAZGO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6858000" y="292608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A3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países de ingreso Alto presentan tasas promedio más elevadas y más dispersas que los de ingreso Medio-Alto.</a:t>
            </a:r>
            <a:endParaRPr lang="en-US" sz="13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A3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PIB per cápita por sí solo no explica la diferencia: dentro de cada grupo de ingreso hay alta heterogeneidad entre países y años.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A3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interpreta como una asociación descriptiva, no como una relación causal directa.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3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201168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31089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· DESEMPLEO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7772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DESEMPLEO Y EL</a:t>
            </a:r>
            <a:endParaRPr lang="en-US" sz="34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MODELO ELEGIDO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457200" y="22860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A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 EDA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260604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DEA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desempleo, por sí solo, no muestra una tendencia lineal clara ni fuerte con la tasa de suicidio en el scatterplot ni en la matriz de correlación.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035040" y="2286000"/>
            <a:ext cx="0" cy="4023360"/>
          </a:xfrm>
          <a:prstGeom prst="line">
            <a:avLst/>
          </a:prstGeom>
          <a:noFill/>
          <a:ln w="12700">
            <a:solidFill>
              <a:srgbClr val="33333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0" y="22860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A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ELEGIDO: GLM POISSON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0" y="265176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DEA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objetivo: cantidad de suicidios (un conteo)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DEA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Predictores: sexo, nivel de ingreso, tasa de desempleo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DEA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Offset: log(población) — controla el tamaño de cada país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0" y="4434840"/>
            <a:ext cx="5303520" cy="1737360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11" name="Text 8"/>
          <p:cNvSpPr/>
          <p:nvPr/>
        </p:nvSpPr>
        <p:spPr>
          <a:xfrm>
            <a:off x="6675120" y="4572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Poisson?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675120" y="49377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A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Porque la variable a predecir es un conteo de eventos (suicidios), y Poisson es el modelo estándar para datos de conteo en ciencia de datos.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201168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31089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· EVALUACIÓN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7772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POISSON VS.</a:t>
            </a:r>
            <a:endParaRPr lang="en-US" sz="32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BINOMIAL NEGATIVO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228600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23774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488,1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8580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de sobredispersión (vs. referencia = 1) → la inferencia del Poisson no es confiable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2286000"/>
          <a:ext cx="7132320" cy="18288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2377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Métrica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Poisson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Binomial Neg.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MAE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455,9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630,5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RMSE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889,8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1.187,8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R²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0,964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0,937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388620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A3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 metodológica: 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3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Poisson predice levemente mejor en términos puntuales, pero ante sobredispersión severa se reporta el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A3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Binomial Negativo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3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como modelo final para la inferencia de coeficientes.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57200" y="5029200"/>
            <a:ext cx="11247120" cy="0"/>
          </a:xfrm>
          <a:prstGeom prst="line">
            <a:avLst/>
          </a:prstGeom>
          <a:noFill/>
          <a:ln w="12700">
            <a:solidFill>
              <a:srgbClr val="CFCBC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52120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Hombre: cantidad esperada de suicidios 3,05× mayor  ·  Ingreso Medio-Alto: 58% menor que ingreso Alto  ·  Desempleo: efecto marginal (×0,978 por punto)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3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201168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31089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· CLASIFICACIÓN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77724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¿PAÍS-AÑO DE</a:t>
            </a:r>
            <a:endParaRPr lang="en-US" sz="34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TASA ALTA?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4572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A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Regresión logística · tasa alta = sobre el percentil 75 de tasa de suicidio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457200" y="2743200"/>
            <a:ext cx="2514600" cy="1554480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29260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0,79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457200" y="36576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8A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0" y="2743200"/>
            <a:ext cx="2514600" cy="1554480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10" name="Text 7"/>
          <p:cNvSpPr/>
          <p:nvPr/>
        </p:nvSpPr>
        <p:spPr>
          <a:xfrm>
            <a:off x="3200400" y="29260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0,48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3200400" y="36576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8A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43600" y="2743200"/>
            <a:ext cx="2514600" cy="1554480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0" y="29260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0,92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5943600" y="36576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8A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686800" y="2743200"/>
            <a:ext cx="2514600" cy="1554480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0" y="29260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0,87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8686800" y="36576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8A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457200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EDEA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Lectura: 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EA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detecta casi todos los casos reales de tasa alta (recall 92%), a costa de bastantes falsas alarmas (precision 48%) — coherente con el desbalance de clases (25% son tasa alta por construcción). El AUC de 0,87 confirma una buena capacidad de discriminación.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201168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31089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· CONCLUSIONES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7772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CONCLUSIONES Y</a:t>
            </a:r>
            <a:endParaRPr lang="en-US" sz="34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LIMITACIONES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457200" y="2331720"/>
            <a:ext cx="534924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0604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262432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 PRINCIPAL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77240" y="3246120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3A3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sexo es, por lejos, el predictor más fuerte y consistente en ambos modelos.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nivel de ingreso muestra asociación clara; el desempleo crudo tiene un rol marginal o nulo (p = 0,89 en el modelo logístico).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6355080" y="2331720"/>
            <a:ext cx="534924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675120" y="262432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LIMITACIONES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675120" y="3246120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observacional: asociaciones, no causalidad.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Ausencia de variables con rezago temporal.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sesgada hacia países de mayor ingreso (por completitud de datos).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Faltan variables de acceso a salud mental y factores culturales.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3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201168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31089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11887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 APORTE A LA</a:t>
            </a:r>
            <a:endParaRPr lang="en-US" sz="42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SALUD PÚBLICA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502920" y="283464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EDEA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modelo de alto recall puede servir como sistema de alerta temprana para focalizar políticas públicas de prevención, complementado siempre con seguimiento humano dado su precisión moderada.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4846320"/>
            <a:ext cx="7315200" cy="0"/>
          </a:xfrm>
          <a:prstGeom prst="line">
            <a:avLst/>
          </a:prstGeom>
          <a:noFill/>
          <a:ln w="12700">
            <a:solidFill>
              <a:srgbClr val="33333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5074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5669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IMT2200 · Introducción a la Ciencia de Datos · PUC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Profesor Alejandro Cataldo Cornejo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29600" y="0"/>
            <a:ext cx="3959352" cy="6858000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10" name="Text 7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Más allá de las cifras</dc:title>
  <dc:subject>PptxGenJS Presentation</dc:subject>
  <dc:creator>Grupo 1</dc:creator>
  <cp:lastModifiedBy>Grupo 1</cp:lastModifiedBy>
  <cp:revision>1</cp:revision>
  <dcterms:created xsi:type="dcterms:W3CDTF">2026-06-29T00:07:34Z</dcterms:created>
  <dcterms:modified xsi:type="dcterms:W3CDTF">2026-06-29T00:07:34Z</dcterms:modified>
</cp:coreProperties>
</file>